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Nunito"/>
      <p:regular r:id="rId43"/>
      <p:bold r:id="rId44"/>
      <p:italic r:id="rId45"/>
      <p:boldItalic r:id="rId46"/>
    </p:embeddedFont>
    <p:embeddedFont>
      <p:font typeface="Maven Pro"/>
      <p:regular r:id="rId47"/>
      <p:bold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7DEAB4-80C6-49D1-8E23-1B7FF1DCFC16}">
  <a:tblStyle styleId="{837DEAB4-80C6-49D1-8E23-1B7FF1DCFC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Nunito-bold.fntdata"/><Relationship Id="rId43" Type="http://schemas.openxmlformats.org/officeDocument/2006/relationships/font" Target="fonts/Nunito-regular.fntdata"/><Relationship Id="rId46" Type="http://schemas.openxmlformats.org/officeDocument/2006/relationships/font" Target="fonts/Nunito-boldItalic.fntdata"/><Relationship Id="rId45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avenPro-bold.fntdata"/><Relationship Id="rId47" Type="http://schemas.openxmlformats.org/officeDocument/2006/relationships/font" Target="fonts/MavenPro-regular.fntdata"/><Relationship Id="rId49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Roboto-regular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e1496ac36_0_2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e1496ac36_0_2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e1496ac36_0_2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e1496ac36_0_2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e1496ac36_0_2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e1496ac36_0_2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1496ac36_0_2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e1496ac36_0_2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e1496ac36_0_2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e1496ac36_0_2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e1496ac36_0_2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e1496ac36_0_2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e1496ac36_0_2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e1496ac36_0_2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e1496ac36_0_2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e1496ac36_0_2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e1496ac36_0_2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e1496ac36_0_2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e1496ac36_0_2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e1496ac36_0_2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e1496ac36_0_2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e1496ac36_0_2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e1496ac36_0_2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e1496ac36_0_2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e1496ac36_0_2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e1496ac36_0_2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e1496ac36_0_2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e1496ac36_0_2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e1496ac36_0_2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e1496ac36_0_2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e1496ac36_0_2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ae1496ac36_0_2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e1496ac36_0_2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e1496ac36_0_2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e1496ac36_0_2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e1496ac36_0_2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e1496ac36_0_2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e1496ac36_0_2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e1496ac36_0_2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e1496ac36_0_2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e1496ac36_0_2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ae1496ac36_0_2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e1496ac36_0_2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e1496ac36_0_2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e1496ac36_0_2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e1496ac36_0_2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e1496ac36_0_2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e1496ac36_0_2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e1496ac36_0_2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ae1496ac36_0_2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e1496ac36_0_2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ae1496ac36_0_2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e1496ac36_0_4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ae1496ac36_0_4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e1496ac36_0_2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e1496ac36_0_2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e1496ac36_0_2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ae1496ac36_0_2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5c78e6f8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5c78e6f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5c78e6f8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a5c78e6f8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1" type="subTitle"/>
          </p:nvPr>
        </p:nvSpPr>
        <p:spPr>
          <a:xfrm>
            <a:off x="5898025" y="3298925"/>
            <a:ext cx="3070500" cy="18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Presented by: DANAVASAN V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Mentor: Bhargavesh Dakka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Company: Infosys</a:t>
            </a:r>
            <a:endParaRPr sz="1400"/>
          </a:p>
        </p:txBody>
      </p:sp>
      <p:pic>
        <p:nvPicPr>
          <p:cNvPr descr="make it professional as this is the final presentation ppt for our infosys project" id="278" name="Google Shape;278;p13"/>
          <p:cNvPicPr preferRelativeResize="0"/>
          <p:nvPr/>
        </p:nvPicPr>
        <p:blipFill rotWithShape="1">
          <a:blip r:embed="rId3">
            <a:alphaModFix/>
          </a:blip>
          <a:srcRect b="0" l="-3564" r="1439" t="0"/>
          <a:stretch/>
        </p:blipFill>
        <p:spPr>
          <a:xfrm>
            <a:off x="-224200" y="0"/>
            <a:ext cx="56021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311700" y="313300"/>
            <a:ext cx="85206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3600">
                <a:solidFill>
                  <a:srgbClr val="0B5394"/>
                </a:solidFill>
                <a:highlight>
                  <a:srgbClr val="F8F8F8"/>
                </a:highlight>
              </a:rPr>
              <a:t>Agenda</a:t>
            </a:r>
            <a:endParaRPr b="1" sz="3600">
              <a:solidFill>
                <a:srgbClr val="0B5394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311700" y="1057775"/>
            <a:ext cx="8576700" cy="19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Problem Statement: E-commerce pricing and sentiment tracking challenges.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Domain &amp; Dataset: E-commerce knowledge; iPhone 14 pricing/review data.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EDA: Time series price and sentiment review analysis.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Statistical Analysis: Stationarity testing (ADF, KPSS); Model selection.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AI Models &amp; Forecasting: Chronos (Amazon) &amp; Prophet (Meta) for forecasting; Llama 3.3 70B for sentiment.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Evaluation &amp; Results: Performance metrics (MAPE, RMSE, MAE, R²); Chronos achieved 0.38% MAPE.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Dashboard Demo &amp; Features.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>
                <a:solidFill>
                  <a:schemeClr val="dk1"/>
                </a:solidFill>
              </a:rPr>
              <a:t>Business Impact &amp; Future Work.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0" y="0"/>
            <a:ext cx="9144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Problem Statement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0" y="529175"/>
            <a:ext cx="9144000" cy="46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2860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</a:rPr>
              <a:t>Challenges in E-Commerce Competitor Tracking</a:t>
            </a:r>
            <a:endParaRPr sz="2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</a:rPr>
              <a:t>1️⃣ Price Inconsistency</a:t>
            </a:r>
            <a:endParaRPr sz="2050">
              <a:solidFill>
                <a:schemeClr val="dk1"/>
              </a:solidFill>
            </a:endParaRPr>
          </a:p>
          <a:p>
            <a:pPr indent="-33924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0">
                <a:solidFill>
                  <a:schemeClr val="dk1"/>
                </a:solidFill>
              </a:rPr>
              <a:t>iPhone 14 prices vary across platforms (Amazon, Flipkart, etc.).</a:t>
            </a:r>
            <a:endParaRPr sz="2050">
              <a:solidFill>
                <a:schemeClr val="dk1"/>
              </a:solidFill>
            </a:endParaRPr>
          </a:p>
          <a:p>
            <a:pPr indent="-3392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0">
                <a:solidFill>
                  <a:schemeClr val="dk1"/>
                </a:solidFill>
              </a:rPr>
              <a:t>Customers can't compare real-time prices or predict future price drops.</a:t>
            </a:r>
            <a:endParaRPr sz="2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</a:rPr>
              <a:t>2️⃣ Sentiment Uncertainty</a:t>
            </a:r>
            <a:endParaRPr sz="2050">
              <a:solidFill>
                <a:schemeClr val="dk1"/>
              </a:solidFill>
            </a:endParaRPr>
          </a:p>
          <a:p>
            <a:pPr indent="-33924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0">
                <a:solidFill>
                  <a:schemeClr val="dk1"/>
                </a:solidFill>
              </a:rPr>
              <a:t>Thousands of reviews lack aggregated sentiment analysis.</a:t>
            </a:r>
            <a:endParaRPr sz="2050">
              <a:solidFill>
                <a:schemeClr val="dk1"/>
              </a:solidFill>
            </a:endParaRPr>
          </a:p>
          <a:p>
            <a:pPr indent="-3392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0">
                <a:solidFill>
                  <a:schemeClr val="dk1"/>
                </a:solidFill>
              </a:rPr>
              <a:t>Customers struggle to quickly assess product reputation; manual review reading is slow.</a:t>
            </a:r>
            <a:endParaRPr sz="2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</a:rPr>
              <a:t>3️⃣ Lack of Forecasting Tools</a:t>
            </a:r>
            <a:endParaRPr sz="2050">
              <a:solidFill>
                <a:schemeClr val="dk1"/>
              </a:solidFill>
            </a:endParaRPr>
          </a:p>
          <a:p>
            <a:pPr indent="-33924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0">
                <a:solidFill>
                  <a:schemeClr val="dk1"/>
                </a:solidFill>
              </a:rPr>
              <a:t>No AI for price predictions or rating trend analysis.</a:t>
            </a:r>
            <a:endParaRPr sz="2050">
              <a:solidFill>
                <a:schemeClr val="dk1"/>
              </a:solidFill>
            </a:endParaRPr>
          </a:p>
          <a:p>
            <a:pPr indent="-3392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50">
                <a:solidFill>
                  <a:schemeClr val="dk1"/>
                </a:solidFill>
              </a:rPr>
              <a:t>Competitors' pricing strategies are unclear.</a:t>
            </a:r>
            <a:endParaRPr sz="2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50">
                <a:solidFill>
                  <a:schemeClr val="dk1"/>
                </a:solidFill>
              </a:rPr>
              <a:t>💡 Solution: An AI dashboard providing real-time sentiment analysis and price forecasting for informed purchases.</a:t>
            </a:r>
            <a:endParaRPr sz="2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87725" y="0"/>
            <a:ext cx="90564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Domain Knowledge: E-Commerce Industry</a:t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  <a:p>
            <a:pPr indent="0" lvl="0" marL="76200" marR="7620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B3B3B"/>
              </a:solidFill>
              <a:highlight>
                <a:srgbClr val="F8F8F8"/>
              </a:highlight>
            </a:endParaRPr>
          </a:p>
          <a:p>
            <a:pPr indent="0" lvl="0" marL="38100" marR="3810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87600" y="564000"/>
            <a:ext cx="9056400" cy="45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E-Commerce Dynamics:</a:t>
            </a:r>
            <a:endParaRPr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📊 Dynamic Pricing: Prices shift based on demand, competition, and inventory (includes flash sales/discounts).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💬 Review-Driven Trust: Customer ratings (1-5 stars) and sentiment affect purchasing and product reputation.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🔄 Cross-Platform Competition: Price wars and platform-specific offers/cashback between major platforms (e.g., Amazon vs Flipkart).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rabicPeriod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📈 Time Series Nature: Prices show temporal dependency (price at T influences T+1) and sequential, step-function patterns.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Why iPhone 14?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✅ High-value product (₹54,900 - ₹59,900)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✅ Frequent price changes in a competitive market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✅ Rich review data for sentiment analysis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0" y="0"/>
            <a:ext cx="85206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Dataset Overview</a:t>
            </a:r>
            <a:endParaRPr b="1">
              <a:solidFill>
                <a:srgbClr val="1155CC"/>
              </a:solidFill>
            </a:endParaRPr>
          </a:p>
        </p:txBody>
      </p:sp>
      <p:graphicFrame>
        <p:nvGraphicFramePr>
          <p:cNvPr id="302" name="Google Shape;302;p17"/>
          <p:cNvGraphicFramePr/>
          <p:nvPr/>
        </p:nvGraphicFramePr>
        <p:xfrm>
          <a:off x="77850" y="57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{837DEAB4-80C6-49D1-8E23-1B7FF1DCFC16}</a:tableStyleId>
              </a:tblPr>
              <a:tblGrid>
                <a:gridCol w="3534675"/>
                <a:gridCol w="3525850"/>
              </a:tblGrid>
              <a:tr h="45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📈 TIME SERIES PRICE DATA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💬 CUSTOMER REVIEWS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814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</a:t>
                      </a:r>
                      <a:r>
                        <a:rPr b="1"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0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Scraped Amazon iPhone 14 pricing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</a:t>
                      </a:r>
                      <a:r>
                        <a:rPr b="1"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6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Flipkart iPhone 14 reviews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69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Records</a:t>
                      </a:r>
                      <a:r>
                        <a:rPr b="1"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r>
                        <a:rPr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0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302 data points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Records:</a:t>
                      </a:r>
                      <a:r>
                        <a:rPr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8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61 customer reviews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69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Duration</a:t>
                      </a:r>
                      <a:r>
                        <a:rPr b="1"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r>
                        <a:rPr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0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Sept 2024 - Nov 2025 (447 days)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Features</a:t>
                      </a:r>
                      <a:r>
                        <a:rPr b="1"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r>
                        <a:rPr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0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review_text, rating, review_length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69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Features</a:t>
                      </a:r>
                      <a:r>
                        <a:rPr b="1"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b="1" sz="10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date, current_price, rating, disc_ptg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Rating Range:</a:t>
                      </a:r>
                      <a:endParaRPr b="1" sz="18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3.0 - 5.0 stars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94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Price Range:</a:t>
                      </a:r>
                      <a:endParaRPr b="1" sz="18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₹54,900 - ₹59,900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Purpose</a:t>
                      </a:r>
                      <a:r>
                        <a:rPr b="1" lang="en" sz="10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b="1" sz="1000">
                        <a:solidFill>
                          <a:srgbClr val="3B3B3B"/>
                        </a:solidFill>
                        <a:highlight>
                          <a:srgbClr val="F8F8F8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Sentiment analysis using Llama 3.3 70B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3" name="Google Shape;303;p17"/>
          <p:cNvSpPr txBox="1"/>
          <p:nvPr>
            <p:ph type="title"/>
          </p:nvPr>
        </p:nvSpPr>
        <p:spPr>
          <a:xfrm>
            <a:off x="7245600" y="1030000"/>
            <a:ext cx="1898400" cy="34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8F8F8"/>
                </a:highlight>
              </a:rPr>
              <a:t>DATA QUALITY</a:t>
            </a:r>
            <a:endParaRPr sz="160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8F8F8"/>
                </a:highlight>
              </a:rPr>
              <a:t>✅ No missing values              </a:t>
            </a:r>
            <a:endParaRPr sz="160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8F8F8"/>
                </a:highlight>
              </a:rPr>
              <a:t>✅ Date format standardized</a:t>
            </a:r>
            <a:endParaRPr sz="160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8F8F8"/>
                </a:highlight>
              </a:rPr>
              <a:t>✅ Outliers detected &amp; analyzed   </a:t>
            </a:r>
            <a:endParaRPr sz="160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8F8F8"/>
                </a:highlight>
              </a:rPr>
              <a:t>✅ Clean data ready for modeling</a:t>
            </a:r>
            <a:endParaRPr b="1" sz="1600">
              <a:highlight>
                <a:srgbClr val="F8F8F8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title"/>
          </p:nvPr>
        </p:nvSpPr>
        <p:spPr>
          <a:xfrm>
            <a:off x="-100" y="0"/>
            <a:ext cx="91440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Exploratory Data Analysis: Time Series Price Data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09" name="Google Shape;309;p18"/>
          <p:cNvSpPr txBox="1"/>
          <p:nvPr>
            <p:ph idx="1" type="body"/>
          </p:nvPr>
        </p:nvSpPr>
        <p:spPr>
          <a:xfrm>
            <a:off x="389900" y="3581625"/>
            <a:ext cx="8753700" cy="15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INFERENCE: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Price has clear temporal dependencies (–5.34% overall trend), violating the independence assumption of traditional ML models. Time series models, Chronos (zero-shot learning for irregular patterns) and Prophet (interpretable trend/seasonality decomposition), were chosen. Both are suitable for sequential data and avoid the manual parameter tuning needed for ARIMA/SARIMA.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10" name="Google Shape;310;p18" title="Screenshot 2025-12-06 1844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00" y="576525"/>
            <a:ext cx="8384525" cy="30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0" y="0"/>
            <a:ext cx="91440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Exploratory Data Analysis: Time Series Price Data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16" name="Google Shape;316;p19"/>
          <p:cNvSpPr txBox="1"/>
          <p:nvPr>
            <p:ph idx="1" type="body"/>
          </p:nvPr>
        </p:nvSpPr>
        <p:spPr>
          <a:xfrm>
            <a:off x="0" y="519766"/>
            <a:ext cx="9144000" cy="46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📊 Univariate Analysis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Mean Price: ₹57,305 (Std Dev: ₹2,128 - moderate volatility)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Mean Rating: 4.59/5.0 (Std Dev: 0.040 - very stable)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📉 Price Trend Analysis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Overall trend: -5.34% (falling prices)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Trend shows sudden, discrete step-function transitions.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🔗 Bivariate Analysis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Price-Rating Correlation: 0.195 (weak)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Price changes minimally affect ratings; variables are mostly independent.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⏰ Temporal Dependencies (⭐ KEY INSIGHT)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Price at T influences price at T+1; sequential patterns exist.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Violates ML independence, justifying time series models (Chronos, Prophet).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17" name="Google Shape;317;p19"/>
          <p:cNvSpPr txBox="1"/>
          <p:nvPr/>
        </p:nvSpPr>
        <p:spPr>
          <a:xfrm>
            <a:off x="5152400" y="2028930"/>
            <a:ext cx="392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type="title"/>
          </p:nvPr>
        </p:nvSpPr>
        <p:spPr>
          <a:xfrm>
            <a:off x="0" y="0"/>
            <a:ext cx="9526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Exploratory Data Analysis: Customer Sentiment Data</a:t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</p:txBody>
      </p:sp>
      <p:cxnSp>
        <p:nvCxnSpPr>
          <p:cNvPr id="323" name="Google Shape;323;p20"/>
          <p:cNvCxnSpPr/>
          <p:nvPr/>
        </p:nvCxnSpPr>
        <p:spPr>
          <a:xfrm>
            <a:off x="-21300" y="656396"/>
            <a:ext cx="9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4" name="Google Shape;3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4775"/>
            <a:ext cx="9130199" cy="33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 txBox="1"/>
          <p:nvPr>
            <p:ph type="title"/>
          </p:nvPr>
        </p:nvSpPr>
        <p:spPr>
          <a:xfrm>
            <a:off x="0" y="0"/>
            <a:ext cx="9526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Exploratory Data Analysis: Customer Sentiment Data</a:t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</p:txBody>
      </p:sp>
      <p:cxnSp>
        <p:nvCxnSpPr>
          <p:cNvPr id="330" name="Google Shape;330;p21"/>
          <p:cNvCxnSpPr/>
          <p:nvPr/>
        </p:nvCxnSpPr>
        <p:spPr>
          <a:xfrm>
            <a:off x="1400" y="604371"/>
            <a:ext cx="9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1" name="Google Shape;3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531"/>
            <a:ext cx="8839198" cy="430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0" y="0"/>
            <a:ext cx="9526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Exploratory Data Analysis: Customer Sentiment Data</a:t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</p:txBody>
      </p:sp>
      <p:sp>
        <p:nvSpPr>
          <p:cNvPr id="337" name="Google Shape;337;p22"/>
          <p:cNvSpPr txBox="1"/>
          <p:nvPr>
            <p:ph idx="1" type="body"/>
          </p:nvPr>
        </p:nvSpPr>
        <p:spPr>
          <a:xfrm>
            <a:off x="1400" y="604375"/>
            <a:ext cx="9926100" cy="45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⭐ Rating Distribution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Heavily skewed towards 5-star (Mean: 4.52/5.0).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5-star reviews dominate.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📏 Text Length Patterns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Review length: 28 - 509 characters (Mean: ~250 characters)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Short vs. long, detailed feedback.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🔤 Common Keywords (Top Features)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Positive terms: "camera," "battery," "performance," "awesome," "excellent."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Feature mentions: "display," "processor," "design."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Focus on Quality &amp; performance.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💡 Key Insight ⭐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Star ratings miss nuanced sentiment.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AI model (Llama 3.3 70B) needed for aspect-level feedback (e.g., "camera great BUT battery disappoints").</a:t>
            </a:r>
            <a:endParaRPr sz="1400">
              <a:solidFill>
                <a:srgbClr val="000000"/>
              </a:solidFill>
            </a:endParaRPr>
          </a:p>
        </p:txBody>
      </p:sp>
      <p:cxnSp>
        <p:nvCxnSpPr>
          <p:cNvPr id="338" name="Google Shape;338;p22"/>
          <p:cNvCxnSpPr/>
          <p:nvPr/>
        </p:nvCxnSpPr>
        <p:spPr>
          <a:xfrm>
            <a:off x="1400" y="604371"/>
            <a:ext cx="91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/>
          <p:nvPr>
            <p:ph type="title"/>
          </p:nvPr>
        </p:nvSpPr>
        <p:spPr>
          <a:xfrm>
            <a:off x="311700" y="0"/>
            <a:ext cx="8520600" cy="6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Cross-Platform Comparison: Amazon vs Flipkart</a:t>
            </a:r>
            <a:endParaRPr b="1">
              <a:solidFill>
                <a:srgbClr val="1155CC"/>
              </a:solidFill>
            </a:endParaRPr>
          </a:p>
        </p:txBody>
      </p:sp>
      <p:pic>
        <p:nvPicPr>
          <p:cNvPr id="344" name="Google Shape;344;p23" title="Screenshot 2025-12-07 0047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150" y="627600"/>
            <a:ext cx="7432962" cy="42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/>
          <p:nvPr>
            <p:ph type="title"/>
          </p:nvPr>
        </p:nvSpPr>
        <p:spPr>
          <a:xfrm>
            <a:off x="311700" y="0"/>
            <a:ext cx="8520600" cy="6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Cross-Platform Comparison: Amazon vs Flipkart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50" name="Google Shape;350;p24"/>
          <p:cNvSpPr txBox="1"/>
          <p:nvPr>
            <p:ph idx="1" type="body"/>
          </p:nvPr>
        </p:nvSpPr>
        <p:spPr>
          <a:xfrm>
            <a:off x="311700" y="587850"/>
            <a:ext cx="5415900" cy="42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🎯 Sentiment Comparison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Amazon: 64% positive (25 reviews)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Flipkart: 78.7% positive (61 reviews)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Winner: Flipkart (14.7% higher positive sentiment)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💰 Price Comparison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Amazon: Rs.56,662 (Deal Score: 79/100)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Flipkart: Rs.55,049 (Deal Score: 97/100)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Best Deal: 🏆 FLIPKART (Save Rs.1,613)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📊 Insights Dashboard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Side-by-side sentiment pie charts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Real-time price tracking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Best deal recommendation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Deal score algorithm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5750400" y="1384950"/>
            <a:ext cx="3293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Business Value:</a:t>
            </a:r>
            <a:endParaRPr b="1" sz="1800"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81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8F8F8"/>
                </a:highlight>
              </a:rPr>
              <a:t>✅ Find cheapest platform instantly</a:t>
            </a:r>
            <a:endParaRPr sz="1800">
              <a:highlight>
                <a:srgbClr val="F8F8F8"/>
              </a:highlight>
            </a:endParaRPr>
          </a:p>
          <a:p>
            <a:pPr indent="0" lvl="0" marL="381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8F8F8"/>
                </a:highlight>
              </a:rPr>
              <a:t>✅ Compare customer sentiment across platforms</a:t>
            </a:r>
            <a:endParaRPr sz="1800">
              <a:highlight>
                <a:srgbClr val="F8F8F8"/>
              </a:highlight>
            </a:endParaRPr>
          </a:p>
          <a:p>
            <a:pPr indent="0" lvl="0" marL="381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8F8F8"/>
                </a:highlight>
              </a:rPr>
              <a:t>✅ Data-driven purchase decisions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343652" y="569600"/>
            <a:ext cx="5190330" cy="4377314"/>
          </a:xfrm>
          <a:custGeom>
            <a:rect b="b" l="l" r="r" t="t"/>
            <a:pathLst>
              <a:path extrusionOk="0" h="172948" w="217898">
                <a:moveTo>
                  <a:pt x="0" y="0"/>
                </a:moveTo>
                <a:lnTo>
                  <a:pt x="0" y="172948"/>
                </a:lnTo>
                <a:lnTo>
                  <a:pt x="217898" y="17252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353" name="Google Shape;353;p24"/>
          <p:cNvCxnSpPr/>
          <p:nvPr/>
        </p:nvCxnSpPr>
        <p:spPr>
          <a:xfrm>
            <a:off x="343650" y="569598"/>
            <a:ext cx="5190600" cy="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4"/>
          <p:cNvCxnSpPr/>
          <p:nvPr/>
        </p:nvCxnSpPr>
        <p:spPr>
          <a:xfrm rot="10800000">
            <a:off x="5534150" y="601625"/>
            <a:ext cx="10800" cy="43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4"/>
          <p:cNvSpPr/>
          <p:nvPr/>
        </p:nvSpPr>
        <p:spPr>
          <a:xfrm>
            <a:off x="5750400" y="1384800"/>
            <a:ext cx="3082167" cy="2373711"/>
          </a:xfrm>
          <a:custGeom>
            <a:rect b="b" l="l" r="r" t="t"/>
            <a:pathLst>
              <a:path extrusionOk="0" h="172948" w="217898">
                <a:moveTo>
                  <a:pt x="0" y="0"/>
                </a:moveTo>
                <a:lnTo>
                  <a:pt x="0" y="172948"/>
                </a:lnTo>
                <a:lnTo>
                  <a:pt x="217898" y="17252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 txBox="1"/>
          <p:nvPr>
            <p:ph type="title"/>
          </p:nvPr>
        </p:nvSpPr>
        <p:spPr>
          <a:xfrm>
            <a:off x="311700" y="-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AI MODEL SELECTION</a:t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</p:txBody>
      </p:sp>
      <p:sp>
        <p:nvSpPr>
          <p:cNvPr id="361" name="Google Shape;361;p25"/>
          <p:cNvSpPr txBox="1"/>
          <p:nvPr>
            <p:ph idx="1" type="body"/>
          </p:nvPr>
        </p:nvSpPr>
        <p:spPr>
          <a:xfrm>
            <a:off x="311700" y="1046275"/>
            <a:ext cx="2672700" cy="40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1️⃣ </a:t>
            </a:r>
            <a:r>
              <a:rPr b="1" lang="en" sz="1400">
                <a:solidFill>
                  <a:srgbClr val="000000"/>
                </a:solidFill>
              </a:rPr>
              <a:t>Chronos (Amazon) </a:t>
            </a:r>
            <a:r>
              <a:rPr lang="en" sz="1400">
                <a:solidFill>
                  <a:srgbClr val="000000"/>
                </a:solidFill>
              </a:rPr>
              <a:t>- Price Forecasting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Type: Foundation model (zero-shot learning)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Size: Tiny variant (8M parameters)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Strength: Handles irregular patterns &amp; step-functions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Training: Pre-trained on millions of time series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Why chosen: Non-stationary data, no tuning needed</a:t>
            </a:r>
            <a:endParaRPr sz="1400">
              <a:solidFill>
                <a:srgbClr val="000000"/>
              </a:solidFill>
            </a:endParaRPr>
          </a:p>
        </p:txBody>
      </p:sp>
      <p:cxnSp>
        <p:nvCxnSpPr>
          <p:cNvPr id="362" name="Google Shape;362;p25"/>
          <p:cNvCxnSpPr/>
          <p:nvPr/>
        </p:nvCxnSpPr>
        <p:spPr>
          <a:xfrm>
            <a:off x="2971700" y="1267225"/>
            <a:ext cx="12600" cy="348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25"/>
          <p:cNvSpPr txBox="1"/>
          <p:nvPr/>
        </p:nvSpPr>
        <p:spPr>
          <a:xfrm>
            <a:off x="2971700" y="1046275"/>
            <a:ext cx="29577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2️⃣ </a:t>
            </a:r>
            <a:r>
              <a:rPr b="1" lang="en"/>
              <a:t>Prophet (Meta) </a:t>
            </a:r>
            <a:r>
              <a:rPr lang="en"/>
              <a:t>- Price Forecasting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Type: Additive model (trend + seasonality)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Components: Trend, yearly, weekly, monthly, holidays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Strength: Interpretable decomposition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Features: Indian e-commerce holidays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Why chosen: Explicit trend modeling, robust to outliers</a:t>
            </a:r>
            <a:endParaRPr/>
          </a:p>
        </p:txBody>
      </p:sp>
      <p:cxnSp>
        <p:nvCxnSpPr>
          <p:cNvPr id="364" name="Google Shape;364;p25"/>
          <p:cNvCxnSpPr/>
          <p:nvPr/>
        </p:nvCxnSpPr>
        <p:spPr>
          <a:xfrm>
            <a:off x="5954525" y="1267225"/>
            <a:ext cx="0" cy="34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25"/>
          <p:cNvSpPr txBox="1"/>
          <p:nvPr/>
        </p:nvSpPr>
        <p:spPr>
          <a:xfrm>
            <a:off x="5929400" y="1046275"/>
            <a:ext cx="29577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3️⃣ </a:t>
            </a:r>
            <a:r>
              <a:rPr b="1" lang="en"/>
              <a:t>Llama 3.3 70B (Meta)</a:t>
            </a:r>
            <a:r>
              <a:rPr lang="en"/>
              <a:t> - Sentiment Analysis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Type: Large Language Model (LLM)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Size: 70 billion parameters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API: Groq (fast inference)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Strength: Context-aware sentiment extraction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Why chosen: Captures nuanced, aspect-level sentiment</a:t>
            </a:r>
            <a:endParaRPr/>
          </a:p>
        </p:txBody>
      </p:sp>
      <p:sp>
        <p:nvSpPr>
          <p:cNvPr id="366" name="Google Shape;366;p25"/>
          <p:cNvSpPr txBox="1"/>
          <p:nvPr>
            <p:ph type="title"/>
          </p:nvPr>
        </p:nvSpPr>
        <p:spPr>
          <a:xfrm>
            <a:off x="301200" y="572700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Three AI Models Selected:</a:t>
            </a:r>
            <a:endParaRPr sz="1800">
              <a:solidFill>
                <a:srgbClr val="1155CC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Model Comparison Approach: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372" name="Google Shape;372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</a:t>
            </a:r>
            <a:r>
              <a:rPr lang="en">
                <a:solidFill>
                  <a:schemeClr val="dk1"/>
                </a:solidFill>
                <a:highlight>
                  <a:srgbClr val="F8F8F8"/>
                </a:highlight>
              </a:rPr>
              <a:t>✅ Train both Chronos &amp; Prophet on 80% data</a:t>
            </a:r>
            <a:endParaRPr>
              <a:solidFill>
                <a:schemeClr val="dk1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</a:t>
            </a:r>
            <a:r>
              <a:rPr lang="en">
                <a:solidFill>
                  <a:schemeClr val="dk1"/>
                </a:solidFill>
                <a:highlight>
                  <a:srgbClr val="F8F8F8"/>
                </a:highlight>
              </a:rPr>
              <a:t>✅ Test on 20% holdout data (61 points)</a:t>
            </a:r>
            <a:endParaRPr>
              <a:solidFill>
                <a:schemeClr val="dk1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</a:t>
            </a:r>
            <a:r>
              <a:rPr lang="en">
                <a:solidFill>
                  <a:schemeClr val="dk1"/>
                </a:solidFill>
                <a:highlight>
                  <a:srgbClr val="F8F8F8"/>
                </a:highlight>
              </a:rPr>
              <a:t>✅ Evaluate using 4 metrics: MAPE, RMSE, MAE, R²</a:t>
            </a:r>
            <a:endParaRPr>
              <a:solidFill>
                <a:schemeClr val="dk1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8F8F8"/>
                </a:highlight>
              </a:rPr>
              <a:t>                             ✅ Select best performer for deployment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Model Evaluation &amp; Performance Comparison</a:t>
            </a:r>
            <a:endParaRPr b="1">
              <a:solidFill>
                <a:srgbClr val="1155CC"/>
              </a:solidFill>
            </a:endParaRPr>
          </a:p>
        </p:txBody>
      </p:sp>
      <p:graphicFrame>
        <p:nvGraphicFramePr>
          <p:cNvPr id="378" name="Google Shape;378;p27"/>
          <p:cNvGraphicFramePr/>
          <p:nvPr/>
        </p:nvGraphicFramePr>
        <p:xfrm>
          <a:off x="785400" y="77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{837DEAB4-80C6-49D1-8E23-1B7FF1DCFC16}</a:tableStyleId>
              </a:tblPr>
              <a:tblGrid>
                <a:gridCol w="1893300"/>
                <a:gridCol w="1893300"/>
                <a:gridCol w="1893300"/>
                <a:gridCol w="1893300"/>
              </a:tblGrid>
              <a:tr h="626500"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2200">
                          <a:highlight>
                            <a:srgbClr val="F8F8F8"/>
                          </a:highlight>
                        </a:rPr>
                        <a:t>Metric </a:t>
                      </a:r>
                      <a:r>
                        <a:rPr lang="en">
                          <a:solidFill>
                            <a:srgbClr val="3B3B3B"/>
                          </a:solidFill>
                          <a:highlight>
                            <a:srgbClr val="F8F8F8"/>
                          </a:highlight>
                        </a:rPr>
                        <a:t>    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2200">
                          <a:highlight>
                            <a:srgbClr val="F8F8F8"/>
                          </a:highlight>
                        </a:rPr>
                        <a:t>Chronos </a:t>
                      </a: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2200">
                          <a:highlight>
                            <a:srgbClr val="F8F8F8"/>
                          </a:highlight>
                        </a:rPr>
                        <a:t>Prophet </a:t>
                      </a: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 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2200">
                          <a:highlight>
                            <a:srgbClr val="F8F8F8"/>
                          </a:highlight>
                        </a:rPr>
                        <a:t>Winner </a:t>
                      </a: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 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39950"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MAPE (%)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0.38%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24.48%  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✅ Chronos  (64x better)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897550"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MAE (₹)</a:t>
                      </a:r>
                      <a:endParaRPr sz="1800">
                        <a:highlight>
                          <a:srgbClr val="F8F8F8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₹211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₹13,448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✅ Chronos  (63x better)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97550"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RMSE (₹)    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₹216   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₹24,707 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✅ Chronos  (144x better)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81725">
                <a:tc>
                  <a:txBody>
                    <a:bodyPr/>
                    <a:lstStyle/>
                    <a:p>
                      <a:pPr indent="0" lvl="0" marL="76200" marR="7620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R² 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-21.15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76200" marR="76200" rtl="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-290,408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highlight>
                            <a:srgbClr val="F8F8F8"/>
                          </a:highlight>
                        </a:rPr>
                        <a:t>✅ Chronos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8" title="Screenshot 2025-12-07 0013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950" y="0"/>
            <a:ext cx="6951574" cy="49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9" title="Screenshot 2025-12-05 2301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4175"/>
            <a:ext cx="3923323" cy="334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9" title="Screenshot 2025-12-05 2302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325" y="594175"/>
            <a:ext cx="5205676" cy="375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0" title="Screenshot 2025-12-05 2302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00" y="113226"/>
            <a:ext cx="8744998" cy="4917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type="title"/>
          </p:nvPr>
        </p:nvSpPr>
        <p:spPr>
          <a:xfrm>
            <a:off x="311700" y="344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MODEL EVALUATION RESULTS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400" name="Google Shape;400;p31"/>
          <p:cNvSpPr txBox="1"/>
          <p:nvPr>
            <p:ph idx="1" type="body"/>
          </p:nvPr>
        </p:nvSpPr>
        <p:spPr>
          <a:xfrm>
            <a:off x="311700" y="1017725"/>
            <a:ext cx="8520600" cy="4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🏆 WINNER: CHRONOS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0.38% MAPE (99.62% Accuracy on unseen test data)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Won all 4 metrics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64x better than Prophet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Production-ready performance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Why Chronos Excelled: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Zero-shot learning handles irregular step-functions.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Pre-trained on millions of time series datasets.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No manual parameter tuning needed.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Robust to non-stationary data.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2"/>
          <p:cNvSpPr txBox="1"/>
          <p:nvPr>
            <p:ph type="title"/>
          </p:nvPr>
        </p:nvSpPr>
        <p:spPr>
          <a:xfrm>
            <a:off x="1400" y="0"/>
            <a:ext cx="93000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Dashboard Features:Real-Time Intelligence Platform</a:t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  <a:p>
            <a:pPr indent="0" lvl="0" marL="76200" marR="7620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  <a:p>
            <a:pPr indent="0" lvl="0" marL="38100" marR="3810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406" name="Google Shape;406;p32"/>
          <p:cNvSpPr txBox="1"/>
          <p:nvPr>
            <p:ph idx="1" type="body"/>
          </p:nvPr>
        </p:nvSpPr>
        <p:spPr>
          <a:xfrm>
            <a:off x="85500" y="647775"/>
            <a:ext cx="4508100" cy="4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📊 1. Overview Dashboard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Real-time sentiment statistics (Positive/Negative/Neutral %)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Total products and reviews tracked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Average rating and price trends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Interactive sentiment distribution charts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💬 2. Sentiment Analysis Tab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WordCloud visualization of common terms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Sentiment breakdown by category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Rating distribution analysis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Temporal sentiment trends over time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407" name="Google Shape;407;p32"/>
          <p:cNvSpPr txBox="1"/>
          <p:nvPr>
            <p:ph idx="1" type="body"/>
          </p:nvPr>
        </p:nvSpPr>
        <p:spPr>
          <a:xfrm>
            <a:off x="4572000" y="587575"/>
            <a:ext cx="4572000" cy="45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📦 3. Products Tab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All tracked products with current prices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Historical price tracking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Rating evolution over time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Platform comparison (Amazon vs Flipkart)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📝 4. Reviews Tab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Complete review listing with sentiment labels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Filter by sentiment (Positive/Negative/Neutral)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Review text with AI-generated sentiment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8F8F8"/>
                </a:highlight>
              </a:rPr>
              <a:t>   • Rating and timestamp information</a:t>
            </a:r>
            <a:endParaRPr sz="1400">
              <a:solidFill>
                <a:srgbClr val="000000"/>
              </a:solidFill>
              <a:highlight>
                <a:srgbClr val="F8F8F8"/>
              </a:highlight>
            </a:endParaRPr>
          </a:p>
        </p:txBody>
      </p:sp>
      <p:cxnSp>
        <p:nvCxnSpPr>
          <p:cNvPr id="408" name="Google Shape;408;p32"/>
          <p:cNvCxnSpPr/>
          <p:nvPr/>
        </p:nvCxnSpPr>
        <p:spPr>
          <a:xfrm>
            <a:off x="4575900" y="566775"/>
            <a:ext cx="17700" cy="458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2"/>
          <p:cNvCxnSpPr/>
          <p:nvPr/>
        </p:nvCxnSpPr>
        <p:spPr>
          <a:xfrm>
            <a:off x="1400" y="566775"/>
            <a:ext cx="91617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2"/>
          <p:cNvCxnSpPr/>
          <p:nvPr/>
        </p:nvCxnSpPr>
        <p:spPr>
          <a:xfrm>
            <a:off x="-9486" y="2850960"/>
            <a:ext cx="91617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2"/>
          <p:cNvCxnSpPr/>
          <p:nvPr/>
        </p:nvCxnSpPr>
        <p:spPr>
          <a:xfrm>
            <a:off x="-8075" y="570500"/>
            <a:ext cx="0" cy="45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2"/>
          <p:cNvCxnSpPr/>
          <p:nvPr/>
        </p:nvCxnSpPr>
        <p:spPr>
          <a:xfrm>
            <a:off x="9153075" y="593346"/>
            <a:ext cx="0" cy="45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2"/>
          <p:cNvCxnSpPr/>
          <p:nvPr/>
        </p:nvCxnSpPr>
        <p:spPr>
          <a:xfrm>
            <a:off x="-14254" y="5137885"/>
            <a:ext cx="91617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3" title="Screenshot 2025-12-07 011517.png"/>
          <p:cNvPicPr preferRelativeResize="0"/>
          <p:nvPr/>
        </p:nvPicPr>
        <p:blipFill rotWithShape="1">
          <a:blip r:embed="rId3">
            <a:alphaModFix/>
          </a:blip>
          <a:srcRect b="0" l="0" r="823" t="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4" title="Screenshot 2025-12-07 0043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1500"/>
            <a:ext cx="8839203" cy="3900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Smart Email Alert System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429" name="Google Shape;429;p3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Automated Email Notifications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>
                <a:solidFill>
                  <a:srgbClr val="000000"/>
                </a:solidFill>
              </a:rPr>
              <a:t>🚨 Sentiment Alerts: AI-powered warnings detect sentiment decline (e.g., 78% → 65%).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>
                <a:solidFill>
                  <a:srgbClr val="000000"/>
                </a:solidFill>
              </a:rPr>
              <a:t>💰 Price Drop Alerts: Monitor price changes (e.g., Rs.56,000 → Rs.52,000), show savings and Deal Score (92/100), and recommend "BUY NOW."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AutoNum type="arabicPeriod"/>
            </a:pPr>
            <a:r>
              <a:rPr lang="en">
                <a:solidFill>
                  <a:srgbClr val="000000"/>
                </a:solidFill>
              </a:rPr>
              <a:t>✅ Key Features: Professional HTML emails, "View in Dashboard" buttons, and real-time SMTP delivery.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Result: Never miss deals or sentiment changes ✅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6" title="Screenshot 2025-12-07 0357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8950"/>
            <a:ext cx="5119576" cy="38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6" title="Screenshot 2025-12-07 0356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9575" y="648950"/>
            <a:ext cx="4024423" cy="33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"/>
          <p:cNvSpPr txBox="1"/>
          <p:nvPr>
            <p:ph type="title"/>
          </p:nvPr>
        </p:nvSpPr>
        <p:spPr>
          <a:xfrm>
            <a:off x="257275" y="0"/>
            <a:ext cx="85206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762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rgbClr val="000000"/>
                </a:solidFill>
                <a:highlight>
                  <a:srgbClr val="F8F8F8"/>
                </a:highlight>
              </a:rPr>
              <a:t>System Architecture </a:t>
            </a:r>
            <a:endParaRPr b="1" sz="1800">
              <a:solidFill>
                <a:srgbClr val="000000"/>
              </a:solidFill>
              <a:highlight>
                <a:srgbClr val="F8F8F8"/>
              </a:highlight>
            </a:endParaRPr>
          </a:p>
        </p:txBody>
      </p:sp>
      <p:pic>
        <p:nvPicPr>
          <p:cNvPr id="441" name="Google Shape;441;p37" title="architecture-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400" y="348350"/>
            <a:ext cx="6610350" cy="479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8"/>
          <p:cNvSpPr txBox="1"/>
          <p:nvPr>
            <p:ph type="title"/>
          </p:nvPr>
        </p:nvSpPr>
        <p:spPr>
          <a:xfrm>
            <a:off x="311700" y="126598"/>
            <a:ext cx="8520600" cy="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Tech Stack:</a:t>
            </a:r>
            <a:endParaRPr b="1">
              <a:solidFill>
                <a:srgbClr val="1155CC"/>
              </a:solidFill>
            </a:endParaRPr>
          </a:p>
        </p:txBody>
      </p:sp>
      <p:graphicFrame>
        <p:nvGraphicFramePr>
          <p:cNvPr id="447" name="Google Shape;447;p38"/>
          <p:cNvGraphicFramePr/>
          <p:nvPr/>
        </p:nvGraphicFramePr>
        <p:xfrm>
          <a:off x="311700" y="82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{837DEAB4-80C6-49D1-8E23-1B7FF1DCFC16}</a:tableStyleId>
              </a:tblPr>
              <a:tblGrid>
                <a:gridCol w="2093825"/>
                <a:gridCol w="2227750"/>
                <a:gridCol w="1986425"/>
                <a:gridCol w="2212600"/>
              </a:tblGrid>
              <a:tr h="54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🎨 </a:t>
                      </a: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Frontend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🤖 AI/ML Models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  🔧 Backend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8F8F8"/>
                          </a:highlight>
                        </a:rPr>
                        <a:t>💾 Data Storage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220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Streamlit (Python web framework)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Plotly (Interactive visualizations)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Matplotlib &amp; Seaborn (Charts)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Chronos (Amazon) - Time series forecasting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Prophet (Meta) - Trend analysis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Llama 3.3 70B (Meta) - Sentiment analysis via Groq API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Python 3.8+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Pandas, NumPy (Data processing)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Scikit-learn (Metrics calculation)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Statsmodels (Statistical tests)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SQLite (Local database)</a:t>
                      </a:r>
                      <a:endParaRPr sz="1600">
                        <a:highlight>
                          <a:srgbClr val="F8F8F8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8F8F8"/>
                          </a:highlight>
                        </a:rPr>
                        <a:t>• CSV exports (Data sharing)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8" name="Google Shape;448;p38"/>
          <p:cNvSpPr txBox="1"/>
          <p:nvPr/>
        </p:nvSpPr>
        <p:spPr>
          <a:xfrm>
            <a:off x="311700" y="3340171"/>
            <a:ext cx="85206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810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B3B3B"/>
              </a:solidFill>
              <a:highlight>
                <a:srgbClr val="F8F8F8"/>
              </a:highlight>
            </a:endParaRPr>
          </a:p>
          <a:p>
            <a:pPr indent="0" lvl="0" marL="3810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</a:rPr>
              <a:t>🌐 External APIs</a:t>
            </a:r>
            <a:endParaRPr sz="1800">
              <a:solidFill>
                <a:srgbClr val="3B3B3B"/>
              </a:solidFill>
              <a:highlight>
                <a:srgbClr val="F8F8F8"/>
              </a:highlight>
            </a:endParaRPr>
          </a:p>
          <a:p>
            <a:pPr indent="0" lvl="0" marL="3810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B3B3B"/>
                </a:solidFill>
                <a:highlight>
                  <a:srgbClr val="F8F8F8"/>
                </a:highlight>
              </a:rPr>
              <a:t>  </a:t>
            </a:r>
            <a:r>
              <a:rPr lang="en" sz="1600">
                <a:highlight>
                  <a:srgbClr val="F8F8F8"/>
                </a:highlight>
              </a:rPr>
              <a:t> • Groq API (Llama 3.3 inference)</a:t>
            </a:r>
            <a:endParaRPr sz="1600">
              <a:highlight>
                <a:srgbClr val="F8F8F8"/>
              </a:highlight>
            </a:endParaRPr>
          </a:p>
          <a:p>
            <a:pPr indent="0" lvl="0" marL="38100" marR="38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8F8F8"/>
                </a:highlight>
              </a:rPr>
              <a:t>   • Web scrapers (Amazon, Flipkart)</a:t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/>
          <p:nvPr>
            <p:ph type="title"/>
          </p:nvPr>
        </p:nvSpPr>
        <p:spPr>
          <a:xfrm>
            <a:off x="311700" y="12790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762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</a:rPr>
              <a:t>Project Results &amp; Business Impact</a:t>
            </a:r>
            <a:endParaRPr b="1">
              <a:solidFill>
                <a:srgbClr val="1155CC"/>
              </a:solidFill>
              <a:highlight>
                <a:srgbClr val="F8F8F8"/>
              </a:highlight>
            </a:endParaRPr>
          </a:p>
        </p:txBody>
      </p:sp>
      <p:sp>
        <p:nvSpPr>
          <p:cNvPr id="454" name="Google Shape;454;p39"/>
          <p:cNvSpPr txBox="1"/>
          <p:nvPr>
            <p:ph idx="1" type="body"/>
          </p:nvPr>
        </p:nvSpPr>
        <p:spPr>
          <a:xfrm>
            <a:off x="1125000" y="991750"/>
            <a:ext cx="7707300" cy="36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🏆 Model Performance: 0.38% MAPE (99.62% accuracy).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💬 Sentiment Analysis: 86+ reviews analyzed.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💰 Price Intelligence: Rs.1,613 savings identified.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</a:rPr>
              <a:t> Business Value: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         ✅ Customers: Best deals.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         ✅ Businesses: Competitor insights.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         ✅ Platforms: Optimize strategies.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1135629" y="809798"/>
            <a:ext cx="6228600" cy="3628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/>
          <p:nvPr>
            <p:ph type="title"/>
          </p:nvPr>
        </p:nvSpPr>
        <p:spPr>
          <a:xfrm>
            <a:off x="0" y="32100"/>
            <a:ext cx="9144000" cy="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76200" marR="7620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rgbClr val="1155CC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Project Results &amp; Business Impac</a:t>
            </a:r>
            <a:r>
              <a:rPr lang="en">
                <a:solidFill>
                  <a:srgbClr val="1155CC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461" name="Google Shape;461;p40"/>
          <p:cNvSpPr txBox="1"/>
          <p:nvPr>
            <p:ph idx="1" type="body"/>
          </p:nvPr>
        </p:nvSpPr>
        <p:spPr>
          <a:xfrm>
            <a:off x="771750" y="755100"/>
            <a:ext cx="4955100" cy="4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🏆 Model Performance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Chronos: </a:t>
            </a:r>
            <a:r>
              <a:rPr b="1" lang="en" sz="1400">
                <a:solidFill>
                  <a:srgbClr val="000000"/>
                </a:solidFill>
              </a:rPr>
              <a:t>0.38% MAPE</a:t>
            </a:r>
            <a:r>
              <a:rPr lang="en" sz="1400">
                <a:solidFill>
                  <a:srgbClr val="000000"/>
                </a:solidFill>
              </a:rPr>
              <a:t> (99.62% accuracy)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64x better than Prophet; Production-ready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💬 Sentiment Analysis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86+ reviews analyzed (Llama 3.3 70B)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Cross-platform comparison &amp; real-time tracking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💰 Price Intelligence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Best deal detection (Saved Rs.1,613)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447 days historical tracking; Automated email alerts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📊 Dashboard Delivered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6 interactive tabs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Live evaluation metrics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One-click forecasting &amp; email system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462" name="Google Shape;462;p40"/>
          <p:cNvSpPr txBox="1"/>
          <p:nvPr>
            <p:ph idx="1" type="body"/>
          </p:nvPr>
        </p:nvSpPr>
        <p:spPr>
          <a:xfrm>
            <a:off x="5898600" y="695400"/>
            <a:ext cx="3245400" cy="44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B3B3B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B3B3B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Business Value:</a:t>
            </a:r>
            <a:endParaRPr b="1" sz="1800">
              <a:solidFill>
                <a:srgbClr val="3B3B3B"/>
              </a:solidFill>
              <a:highlight>
                <a:srgbClr val="F8F8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✅ Customers: Find best deals instantly</a:t>
            </a:r>
            <a:endParaRPr sz="1800">
              <a:solidFill>
                <a:srgbClr val="3B3B3B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✅ Businesses: Track competitor strategies</a:t>
            </a:r>
            <a:endParaRPr sz="1800">
              <a:solidFill>
                <a:srgbClr val="3B3B3B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✅ Platforms: Optimize pricing &amp; sentiment</a:t>
            </a:r>
            <a:endParaRPr sz="1800"/>
          </a:p>
        </p:txBody>
      </p:sp>
      <p:cxnSp>
        <p:nvCxnSpPr>
          <p:cNvPr id="463" name="Google Shape;463;p40"/>
          <p:cNvCxnSpPr/>
          <p:nvPr/>
        </p:nvCxnSpPr>
        <p:spPr>
          <a:xfrm>
            <a:off x="-9525" y="648075"/>
            <a:ext cx="91611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40"/>
          <p:cNvSpPr/>
          <p:nvPr/>
        </p:nvSpPr>
        <p:spPr>
          <a:xfrm>
            <a:off x="5898125" y="680175"/>
            <a:ext cx="3246000" cy="4463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1"/>
          <p:cNvSpPr txBox="1"/>
          <p:nvPr>
            <p:ph type="title"/>
          </p:nvPr>
        </p:nvSpPr>
        <p:spPr>
          <a:xfrm>
            <a:off x="311702" y="48816"/>
            <a:ext cx="8520600" cy="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FUTURE WORK &amp; ENHANCEMENT</a:t>
            </a:r>
            <a:r>
              <a:rPr b="1" lang="en">
                <a:solidFill>
                  <a:srgbClr val="1155CC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470" name="Google Shape;470;p41"/>
          <p:cNvSpPr txBox="1"/>
          <p:nvPr>
            <p:ph idx="1" type="body"/>
          </p:nvPr>
        </p:nvSpPr>
        <p:spPr>
          <a:xfrm>
            <a:off x="707425" y="640425"/>
            <a:ext cx="4848300" cy="44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📱 Expand Product Coverage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Support multiple products (laptops, TVs, mobiles)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Multi-category tracking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🌐 More Platforms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Add Myntra, Snapdeal, Amazon Global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International price comparison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🤖 Enhanced AI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Aspect-based sentiment (camera, battery, display)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90-day price forecasting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Automated review summarization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471" name="Google Shape;471;p41"/>
          <p:cNvSpPr txBox="1"/>
          <p:nvPr>
            <p:ph idx="1" type="body"/>
          </p:nvPr>
        </p:nvSpPr>
        <p:spPr>
          <a:xfrm>
            <a:off x="5263375" y="640425"/>
            <a:ext cx="3658500" cy="44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🔔 Advanced Notifications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• WhatsApp alerts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• SMS notifications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• Custom alert rules per user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☁️ Cloud Deployment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• Deploy on AWS/Azure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• API for third-party integration</a:t>
            </a:r>
            <a:endParaRPr sz="16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• Mobile app development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p41"/>
          <p:cNvCxnSpPr/>
          <p:nvPr/>
        </p:nvCxnSpPr>
        <p:spPr>
          <a:xfrm>
            <a:off x="5263375" y="624525"/>
            <a:ext cx="0" cy="44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"/>
          <p:cNvSpPr txBox="1"/>
          <p:nvPr>
            <p:ph idx="1" type="body"/>
          </p:nvPr>
        </p:nvSpPr>
        <p:spPr>
          <a:xfrm>
            <a:off x="1239575" y="799100"/>
            <a:ext cx="70305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155CC"/>
                </a:solidFill>
              </a:rPr>
              <a:t>Technical Architecture Flow: </a:t>
            </a:r>
            <a:endParaRPr b="1" sz="2800">
              <a:solidFill>
                <a:srgbClr val="1155CC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              </a:t>
            </a:r>
            <a:r>
              <a:rPr lang="en" sz="2200"/>
              <a:t>Dashboard → AI → Database → Alerts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🎨 Streamlit | Plotly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🤖 Chronos | Prophet | Llama 3.3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🔧 Python | Pandas | Scikit-learn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💾 SQLite | SMTP</a:t>
            </a:r>
            <a:endParaRPr sz="1600"/>
          </a:p>
        </p:txBody>
      </p:sp>
      <p:sp>
        <p:nvSpPr>
          <p:cNvPr id="478" name="Google Shape;478;p42"/>
          <p:cNvSpPr/>
          <p:nvPr/>
        </p:nvSpPr>
        <p:spPr>
          <a:xfrm>
            <a:off x="1239575" y="799100"/>
            <a:ext cx="6507000" cy="307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3"/>
          <p:cNvSpPr txBox="1"/>
          <p:nvPr>
            <p:ph type="title"/>
          </p:nvPr>
        </p:nvSpPr>
        <p:spPr>
          <a:xfrm>
            <a:off x="0" y="150875"/>
            <a:ext cx="91440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Conclusion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484" name="Google Shape;484;p43"/>
          <p:cNvSpPr txBox="1"/>
          <p:nvPr>
            <p:ph idx="1" type="body"/>
          </p:nvPr>
        </p:nvSpPr>
        <p:spPr>
          <a:xfrm>
            <a:off x="1303725" y="846000"/>
            <a:ext cx="6660900" cy="16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76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✅  </a:t>
            </a:r>
            <a:r>
              <a:rPr lang="en" sz="1800">
                <a:solidFill>
                  <a:srgbClr val="000000"/>
                </a:solidFill>
              </a:rPr>
              <a:t>AI-powered competitor tracking</a:t>
            </a:r>
            <a:endParaRPr sz="1800">
              <a:solidFill>
                <a:srgbClr val="000000"/>
              </a:solidFill>
            </a:endParaRPr>
          </a:p>
          <a:p>
            <a:pPr indent="0" lvl="0" marL="76200" marR="76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" sz="1800">
                <a:solidFill>
                  <a:srgbClr val="000000"/>
                </a:solidFill>
              </a:rPr>
              <a:t>0.38% MAPE accuracy</a:t>
            </a:r>
            <a:endParaRPr sz="1800">
              <a:solidFill>
                <a:srgbClr val="000000"/>
              </a:solidFill>
            </a:endParaRPr>
          </a:p>
          <a:p>
            <a:pPr indent="0" lvl="0" marL="76200" marR="76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" sz="1800">
                <a:solidFill>
                  <a:srgbClr val="000000"/>
                </a:solidFill>
              </a:rPr>
              <a:t>Complete dashboard + notifications</a:t>
            </a:r>
            <a:endParaRPr sz="1800">
              <a:solidFill>
                <a:srgbClr val="000000"/>
              </a:solidFill>
            </a:endParaRPr>
          </a:p>
          <a:p>
            <a:pPr indent="0" lvl="0" marL="76200" marR="7620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800">
                <a:solidFill>
                  <a:srgbClr val="3B3B3B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lang="en" sz="1800">
                <a:solidFill>
                  <a:srgbClr val="000000"/>
                </a:solidFill>
              </a:rPr>
              <a:t>Production-ready system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485" name="Google Shape;485;p43"/>
          <p:cNvSpPr txBox="1"/>
          <p:nvPr>
            <p:ph idx="1" type="body"/>
          </p:nvPr>
        </p:nvSpPr>
        <p:spPr>
          <a:xfrm>
            <a:off x="1303725" y="2571750"/>
            <a:ext cx="6660900" cy="16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7620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🎯 Successfully built an end-to-end AI system that combines </a:t>
            </a:r>
            <a:endParaRPr sz="18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7620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time series forecasting, NLP sentiment analysis, and </a:t>
            </a:r>
            <a:endParaRPr sz="18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76200" marR="76200" rtl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8F8F8"/>
                </a:highlight>
                <a:latin typeface="Arial"/>
                <a:ea typeface="Arial"/>
                <a:cs typeface="Arial"/>
                <a:sym typeface="Arial"/>
              </a:rPr>
              <a:t>   real-time competitor tracking - ready for deployment!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486" name="Google Shape;486;p43"/>
          <p:cNvSpPr/>
          <p:nvPr/>
        </p:nvSpPr>
        <p:spPr>
          <a:xfrm>
            <a:off x="1302475" y="2595525"/>
            <a:ext cx="6660900" cy="155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4"/>
          <p:cNvSpPr txBox="1"/>
          <p:nvPr>
            <p:ph type="title"/>
          </p:nvPr>
        </p:nvSpPr>
        <p:spPr>
          <a:xfrm>
            <a:off x="1056750" y="20721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76200" rtl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6000">
                <a:solidFill>
                  <a:srgbClr val="000000"/>
                </a:solidFill>
                <a:highlight>
                  <a:srgbClr val="F8F8F8"/>
                </a:highlight>
                <a:latin typeface="Roboto"/>
                <a:ea typeface="Roboto"/>
                <a:cs typeface="Roboto"/>
                <a:sym typeface="Roboto"/>
              </a:rPr>
              <a:t>Thank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